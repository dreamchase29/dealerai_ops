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6d415d3d46456b" /><Relationship Type="http://schemas.openxmlformats.org/officeDocument/2006/relationships/extended-properties" Target="/docProps/app.xml" Id="Rda9231d3ffa149cc" /><Relationship Type="http://schemas.openxmlformats.org/officeDocument/2006/relationships/officeDocument" Target="/ppt/presentation.xml" Id="R1057b33b4c494a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445ee000fb425e"/>
  </p:sldMasterIdLst>
  <p:notesMasterIdLst>
    <p:notesMasterId xmlns:r="http://schemas.openxmlformats.org/officeDocument/2006/relationships" r:id="R4610e49f10284c67"/>
  </p:notesMasterIdLst>
  <p:sldIdLst>
    <p:sldId xmlns:r="http://schemas.openxmlformats.org/officeDocument/2006/relationships" id="256" r:id="R3e8c4fa1d4f34033"/>
    <p:sldId xmlns:r="http://schemas.openxmlformats.org/officeDocument/2006/relationships" id="257" r:id="Rf9e2b07efc064113"/>
    <p:sldId xmlns:r="http://schemas.openxmlformats.org/officeDocument/2006/relationships" id="258" r:id="Rc680d7edc8b14136"/>
    <p:sldId xmlns:r="http://schemas.openxmlformats.org/officeDocument/2006/relationships" id="259" r:id="R766d4fd3b8ab46f2"/>
    <p:sldId xmlns:r="http://schemas.openxmlformats.org/officeDocument/2006/relationships" id="260" r:id="R0a389f9cde404541"/>
    <p:sldId xmlns:r="http://schemas.openxmlformats.org/officeDocument/2006/relationships" id="261" r:id="R6d6f4eb8ea774cfd"/>
    <p:sldId xmlns:r="http://schemas.openxmlformats.org/officeDocument/2006/relationships" id="262" r:id="Rab9561f0d8c547d1"/>
    <p:sldId xmlns:r="http://schemas.openxmlformats.org/officeDocument/2006/relationships" id="263" r:id="R8dcd9271eb7a4333"/>
    <p:sldId xmlns:r="http://schemas.openxmlformats.org/officeDocument/2006/relationships" id="264" r:id="Ra154676dbeb04830"/>
    <p:sldId xmlns:r="http://schemas.openxmlformats.org/officeDocument/2006/relationships" id="265" r:id="Rf0dc1067194d4c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6dd73cc5a7426b" /><Relationship Type="http://schemas.openxmlformats.org/officeDocument/2006/relationships/slideMaster" Target="/ppt/slideMasters/slideMaster1.xml" Id="R3f445ee000fb425e" /><Relationship Type="http://schemas.openxmlformats.org/officeDocument/2006/relationships/notesMaster" Target="/ppt/notesMasters/notesMaster1.xml" Id="R4610e49f10284c67" /><Relationship Type="http://schemas.openxmlformats.org/officeDocument/2006/relationships/presProps" Target="/ppt/presProps.xml" Id="R57b667a0563d4c53" /><Relationship Type="http://schemas.openxmlformats.org/officeDocument/2006/relationships/tableStyles" Target="/ppt/tableStyles.xml" Id="R5f0e22df42dc4c0c" /><Relationship Type="http://schemas.openxmlformats.org/officeDocument/2006/relationships/slide" Target="/ppt/slides/slide1.xml" Id="R3e8c4fa1d4f34033" /><Relationship Type="http://schemas.openxmlformats.org/officeDocument/2006/relationships/slide" Target="/ppt/slides/slide2.xml" Id="Rf9e2b07efc064113" /><Relationship Type="http://schemas.openxmlformats.org/officeDocument/2006/relationships/slide" Target="/ppt/slides/slide3.xml" Id="Rc680d7edc8b14136" /><Relationship Type="http://schemas.openxmlformats.org/officeDocument/2006/relationships/slide" Target="/ppt/slides/slide4.xml" Id="R766d4fd3b8ab46f2" /><Relationship Type="http://schemas.openxmlformats.org/officeDocument/2006/relationships/slide" Target="/ppt/slides/slide5.xml" Id="R0a389f9cde404541" /><Relationship Type="http://schemas.openxmlformats.org/officeDocument/2006/relationships/slide" Target="/ppt/slides/slide6.xml" Id="R6d6f4eb8ea774cfd" /><Relationship Type="http://schemas.openxmlformats.org/officeDocument/2006/relationships/slide" Target="/ppt/slides/slide7.xml" Id="Rab9561f0d8c547d1" /><Relationship Type="http://schemas.openxmlformats.org/officeDocument/2006/relationships/slide" Target="/ppt/slides/slide8.xml" Id="R8dcd9271eb7a4333" /><Relationship Type="http://schemas.openxmlformats.org/officeDocument/2006/relationships/slide" Target="/ppt/slides/slide9.xml" Id="Ra154676dbeb04830" /><Relationship Type="http://schemas.openxmlformats.org/officeDocument/2006/relationships/slide" Target="/ppt/slides/slide10.xml" Id="Rf0dc1067194d4c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c9fdb039474a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147584d04f4adc" /><Relationship Type="http://schemas.openxmlformats.org/officeDocument/2006/relationships/notesMaster" Target="/ppt/notesMasters/notesMaster1.xml" Id="R0da5a3127fdf4a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074a9129f7423d" /><Relationship Type="http://schemas.openxmlformats.org/officeDocument/2006/relationships/notesMaster" Target="/ppt/notesMasters/notesMaster1.xml" Id="R337b6faa2ee94e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1a34e6b9d94899" /><Relationship Type="http://schemas.openxmlformats.org/officeDocument/2006/relationships/notesMaster" Target="/ppt/notesMasters/notesMaster1.xml" Id="R300b86c9d65949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384a584e1c4953" /><Relationship Type="http://schemas.openxmlformats.org/officeDocument/2006/relationships/notesMaster" Target="/ppt/notesMasters/notesMaster1.xml" Id="Red218c7458ea4c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ff8e63a2624a11" /><Relationship Type="http://schemas.openxmlformats.org/officeDocument/2006/relationships/notesMaster" Target="/ppt/notesMasters/notesMaster1.xml" Id="R361b9cfd43354f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deac99f2aa4d92" /><Relationship Type="http://schemas.openxmlformats.org/officeDocument/2006/relationships/notesMaster" Target="/ppt/notesMasters/notesMaster1.xml" Id="R922d0400bd0848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378e8434374a23" /><Relationship Type="http://schemas.openxmlformats.org/officeDocument/2006/relationships/notesMaster" Target="/ppt/notesMasters/notesMaster1.xml" Id="R4bdd60cdbf5a4d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6c0f4b68b444c0" /><Relationship Type="http://schemas.openxmlformats.org/officeDocument/2006/relationships/notesMaster" Target="/ppt/notesMasters/notesMaster1.xml" Id="R2cabc5154b1646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85616485644636" /><Relationship Type="http://schemas.openxmlformats.org/officeDocument/2006/relationships/notesMaster" Target="/ppt/notesMasters/notesMaster1.xml" Id="R770dde044a604b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82391e07ba49c1" /><Relationship Type="http://schemas.openxmlformats.org/officeDocument/2006/relationships/notesMaster" Target="/ppt/notesMasters/notesMaster1.xml" Id="Rf3d19c4e21d54b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28bf357a843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a16e5ad8c647fa" /><Relationship Type="http://schemas.openxmlformats.org/officeDocument/2006/relationships/slideLayout" Target="/ppt/slideLayouts/slideLayout1.xml" Id="R412b224e47114d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b224e47114d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4b8644ce84293" /><Relationship Type="http://schemas.openxmlformats.org/officeDocument/2006/relationships/notesSlide" Target="/ppt/notesSlides/notesSlide1.xml" Id="Racf79bdc835046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fcbd1ba334a52" /><Relationship Type="http://schemas.openxmlformats.org/officeDocument/2006/relationships/notesSlide" Target="/ppt/notesSlides/notesSlide2.xml" Id="R4a2e6f18fbe549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3bb0063d2431f" /><Relationship Type="http://schemas.openxmlformats.org/officeDocument/2006/relationships/notesSlide" Target="/ppt/notesSlides/notesSlide3.xml" Id="R3a361be486334f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64dfe607c4c75" /><Relationship Type="http://schemas.openxmlformats.org/officeDocument/2006/relationships/notesSlide" Target="/ppt/notesSlides/notesSlide4.xml" Id="Re4974535b46142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67bf2a9b0489e" /><Relationship Type="http://schemas.openxmlformats.org/officeDocument/2006/relationships/notesSlide" Target="/ppt/notesSlides/notesSlide5.xml" Id="Ra7b25f028a284a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b9fb5f16d467c" /><Relationship Type="http://schemas.openxmlformats.org/officeDocument/2006/relationships/notesSlide" Target="/ppt/notesSlides/notesSlide6.xml" Id="Rbfe096cf8ae54f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b134cd4504f3d" /><Relationship Type="http://schemas.openxmlformats.org/officeDocument/2006/relationships/notesSlide" Target="/ppt/notesSlides/notesSlide7.xml" Id="R8cd8c68bd9434f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c9854d3474033" /><Relationship Type="http://schemas.openxmlformats.org/officeDocument/2006/relationships/notesSlide" Target="/ppt/notesSlides/notesSlide8.xml" Id="Rb472b46a88b244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c8366739f4ca8" /><Relationship Type="http://schemas.openxmlformats.org/officeDocument/2006/relationships/notesSlide" Target="/ppt/notesSlides/notesSlide9.xml" Id="R8bdb1786e40845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7ff0a135345c5" /><Relationship Type="http://schemas.openxmlformats.org/officeDocument/2006/relationships/notesSlide" Target="/ppt/notesSlides/notesSlide10.xml" Id="R59a10af9035947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FD847-A5D2-440F-A210-5799C75B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62A"/>
                </a:solidFill>
              </a:defRPr>
            </a:pPr>
            <a:r>
              <a:rPr sz="4350" b="1">
                <a:solidFill>
                  <a:srgbClr val="1F262A"/>
                </a:solidFill>
              </a:rPr>
              <a:t>DealerAI 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5F52F-BBE7-4E5A-B2E2-D30BFFD1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CF53E-3069-4D65-A44C-16252399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C5A"/>
                </a:solidFill>
              </a:defRPr>
            </a:pPr>
            <a:r>
              <a:rPr sz="2100" b="0">
                <a:solidFill>
                  <a:srgbClr val="245C5A"/>
                </a:solidFill>
              </a:rPr>
              <a:t>Production-oriented agentic AI and predictive intelligence for automotive dealerships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7A9D3-AB05-4F87-828F-10AA39E1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7A"/>
                </a:solidFill>
              </a:defRPr>
            </a:pPr>
            <a:r>
              <a:rPr sz="1500" b="0">
                <a:solidFill>
                  <a:srgbClr val="68767A"/>
                </a:solidFill>
              </a:rPr>
              <a:t>Interview explainer | implemented capabilities, architecture decisions, and honest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43F2E-B4FC-43AA-9373-426A2AC6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086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Local-first reference implementation</a:t>
            </a:r>
          </a:p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No real PII | No paid API required | AWS mapping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5319C-9B04-4B4E-B909-3B9802C6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7A"/>
                </a:solidFill>
              </a:defRPr>
            </a:pPr>
            <a:r>
              <a:rPr sz="1350" b="0">
                <a:solidFill>
                  <a:srgbClr val="68767A"/>
                </a:solidFill>
              </a:rPr>
              <a:t>Built for senior AI/ML engineering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DF5F6-3F7D-4B66-BA29-AB53D415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21BA7-789C-4BC1-A6DE-43F3B997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A81A0-CC71-4DEE-805A-19170282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72314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BF2A2-D624-4622-9AA6-33FE9E32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F65E6-3270-4611-BBCA-23C0F816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project proves agentic AI can be engineered, tested, and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B0278-221B-4AF5-A8F0-965068C6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1187D-617F-4176-BEA0-B8F13E18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LLM reasoning is separated from domain logic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6C7AC-C4EC-43A6-BE9F-44DF42EC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98A20-F81B-4A24-8FAA-F22AC4DA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All external actions happen through typed Pydantic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CCFDF-D513-4119-8076-3215BC8A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91CFB-9248-4D55-8143-A3DF3007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Predictive ML and RAG are implemented as independent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1B4D1-A22C-41E0-99D7-0BEA2D9E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DF721-046A-48E0-9E52-3A7F96EA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Guardrails, escalation, evaluation, and observability are first-class.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AE633-02D7-4D12-9DB5-B036721B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Core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The system is designed around transaction safety and measurable behavior, not chatbot novelty.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E9F13-655C-42D9-8B12-B965D0DE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CEC17-185E-422C-BFE1-1A639302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EA1F9-7B5C-460C-9D1A-21980A44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78473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F5570-58FA-408F-9927-5A0D39C4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104E9-79CA-4311-9609-23C1E4B2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dealership problem is operational, not conversational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48F75-218B-4195-A6DF-0F291BB5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Unsafe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2004E-C5E5-47DC-AB59-5B53D1DF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Book, cancel, or reschedule without explicit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32EC4-E2AC-4D43-A7E5-98B222E4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PII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5DF97-FC33-4DDC-AE88-103E78E4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Reveal customer contact data or internal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3E883-BD5A-4A10-843B-E6A308ED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Ungrounded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0FB09-1FB9-4D51-9024-05925240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Answer warranty or scheduling questions without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160B3-0608-46B7-87EB-5992F5B1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False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A9D20-D235-4F37-97A7-13F8F28C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Claim a transaction succeeded when the tool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67C73-58F6-45D5-B56C-3B5D36F0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26ADC-160B-4A3D-9F30-F8178863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76BCB-27FD-4E19-89C8-0D5870CF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7249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FD8A9-C357-482F-98EC-5B5AA8B0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C0050-A14C-422C-830D-09B18F9B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Architecture keeps reasoning, tools, data, and evaluation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E8EA9-2315-4777-98F7-3E50F13A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FastAPI / Streamlit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B3953-267E-40F8-A547-594048A5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Agent orchestrator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9088C-EAB9-4FD6-B543-CD6AD178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Guardrails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353F6-7F21-44C7-9B57-83B14F73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Provider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30CCF-8E5B-4B55-99F4-B84ACBD8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Typed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81275-D9A2-4C31-AC03-13D99907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Services + repos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BAA58-665C-459D-B1E3-47CC6984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5BE4C-2F57-4BE2-9DB3-C8779BC8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FCEA2-CCC4-4449-A0D3-18E2FB77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C7FCD-D4A1-46B1-ABAA-3C91E9B7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06628-4BB4-491A-A083-4035DAF6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575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B321B-A289-47AB-B662-558FDEDA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5C5A"/>
                </a:solidFill>
              </a:defRPr>
            </a:pPr>
            <a:r>
              <a:rPr sz="1800" b="0">
                <a:solidFill>
                  <a:srgbClr val="245C5A"/>
                </a:solidFill>
              </a:rPr>
              <a:t>ML inference, human escalation, observability, and evaluation wrap the operational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1A297-DA79-424D-84EC-E6944EBC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56174-28D0-4700-8094-D707AD8B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6DABC-4357-4259-9FC1-6048374C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5399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C02E45-D2F3-47E8-B00E-63381AFF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DATA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76BE6-1BBB-458E-9797-76598115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Synthetic domain data makes the project runnable without PII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3D626-7D5C-4ADB-BD71-CD733A3A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530C2-51E7-4AC5-A10B-AA43CAA5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customers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A31A3-4466-43E3-857C-3A56414B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A51BA-6FC8-43AF-B21A-5E1ECF2E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owned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9A41A-8FA8-4F93-B41A-78950FBC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300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3BAC5-15DD-4253-AECA-185D9EEC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inventory vehicles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28AC0-2E8A-4AA9-A026-26FCCA01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5,000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04676-401E-44B9-84EE-0024A758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historical appointments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4F5D2-0020-41A6-9453-4332CDE5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C4A12-9BED-45C4-AB0B-8BF46014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38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Models relationships across customers, vehicles, appointments, service history, slots, leads, conversations, tool executions, and escalations.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AAACE-B5A9-4457-B1AA-BF0CB450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A0398-BA40-4650-99D1-BE421253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01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generation supports repeatable tests, evaluation reports, and model artifacts.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0DA2D-64F4-4C05-98EA-EE2DF492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7A38C-DDAB-4C43-BD84-47273056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81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Feature design avoids real PII and protected-class fields.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E1E63-E093-45F9-A31A-92E30045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985EB-A227-4A07-95D9-CF41641F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7AAF66-E8B3-422A-99F9-C3E1A41B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7107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054AA-BDB3-4502-ABF4-FD31670C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PREDICTIVE 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B1EEB-459F-4D2E-A29D-B39457E0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No-show prediction is built as a real ML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0DBEE-2A21-4CAB-8BE5-0C17B78B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Synthetic appointment data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booking-time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58611-9C37-4038-805F-E9916D3A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Leakage inspection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exclude outcome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5E937-A927-4818-8632-6A1E3BCE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sklearn pipeline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preprocessing stays aligned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155E8-E62D-418C-B07B-252CB2CB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Model comparison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baseline + calibrated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EB43F-D50F-4BA9-AAEF-9AB97733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Risk tiers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LOW to VERY_HIGH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5389B-8F55-437B-8274-48BBDE7B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6472A-1B7B-43A2-B471-305E9994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4A8A9-AF28-4D4A-8CF3-26BE30F7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DB37A-17FE-42F5-992A-A9D00B65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36093-0838-4F7B-A2A7-89C10C61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99822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Evaluated with ROC-AUC, PR-AUC, precision, recall, F1, Brier score, confusion matrix, calibration diagnostics, and threshold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D6DF2-5375-4564-9170-0C89D839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9A15F-2900-4E50-90DE-7DA8FEBA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0CED3-C479-428E-AB26-88AAB83F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21717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E2350-63D6-4BFD-A440-70B29017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22294-2934-4AB3-9188-CB28DD30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RAG is citation-first and evaluated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4D131-B37E-4BB0-9342-C3A3A879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Knowledge corpus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CC559-8ECA-4B5B-8805-8AD4DD69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478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fictional dealership policies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8832A-03F7-4B31-A10F-0EB14538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Normalize + chunk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12E6F-67A1-413C-9025-AE828E5D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section-aware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5E293-A4EF-414C-9891-33796D07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Local embeddings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F15FB-1519-493E-9B52-592F42B3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test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53C72-3296-4EA9-97EA-C4F379D4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Retrieve + cite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F26B0-BA1D-4CA8-8B99-1447E440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document, section, chunk,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1CDAD-9657-4FBD-8184-FB1E533F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479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Retrieval eval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Recall@K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MRR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Hit Rate@K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D1516-3E2B-4DFB-B511-B0F9C66B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CF8E0-0364-4358-8E19-CFFA1098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CA9D3-A191-421C-A4B6-15FC3767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91606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12CE5-871A-4FD6-8511-690AE007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FUNCTION CALLING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C7039-2280-4D15-A47C-B797765B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Tool calling is the safety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17B93-1AE7-4ADF-8EE7-23FA5051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Tool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2A648-4AAA-4A7F-87A5-3A5DB044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Pydantic input/output schemas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risk level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confirmation flag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0C62C-13BA-43D0-BDD9-ECC47E53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Execution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5CEE4-2536-470B-B067-8B7110B1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authorization hook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request ID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audit logging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E690F-6579-4710-9317-67E6A685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Write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C99A2-3733-48F3-A6DD-3050FD3E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explicit confirmation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transactions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idempotency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1A03C-CE9D-49DB-AB0F-D5425CDC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A4B2B"/>
                </a:solidFill>
              </a:defRPr>
            </a:pPr>
            <a:r>
              <a:rPr sz="1875" b="1">
                <a:solidFill>
                  <a:srgbClr val="8A4B2B"/>
                </a:solidFill>
              </a:rPr>
              <a:t>The LLM may request a tool. The application decides whether that request is valid, authorized, confirmed, and safe.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1600C-1944-46FC-8EF4-AD3A6A20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D9362-BDB7-47DC-B9FF-AB92C6DC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A5A28-A636-4A9B-8F30-266EEDD8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4813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5A6CF-119F-4D07-92B6-2B00F39A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ORCHESTRATION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BB46F-51CE-4B09-9FE8-720AB6F6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agent loop is constrained by policy and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C042F-50D4-47CB-A8B4-FDC1E960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C8D1F-61C6-460A-B3A7-476408EA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explicit conversation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A87D1-81B7-4E2B-9992-9FB67D62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09600-84C2-4D45-83C2-AC5DA852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431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maximum tool iterations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C0F5B-0CF9-44B8-906F-E94A3496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743F6-6903-435A-8377-42814B7C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337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timeouts and structured failures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91F4A-3A06-42F6-B95D-3FDB94B6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3BF9B-A4BA-4339-BD63-A17C5997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242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unknown-tool and invalid-argument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8101A-D93E-4F2C-9E87-F0672666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D8890-5EAD-4972-BE96-BA33B35F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148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confirmation workflow for writes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13511-AF19-466C-AC97-639D4AB0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3143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Fail-closed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PII requests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secret requests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prompt injection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mass operations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retrieved policy bypass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6560D-4C46-4688-83A4-65569FA5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5EE7C-DC9C-4DDA-898F-7A3F701C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A30E1-4A0B-495E-A84D-285016CF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01869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BC2BB-CCB4-48E5-8DC6-81BA48B5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AI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FFCA2-B246-47BD-906D-10E0FDCB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Evaluation turns agent behavior into release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49E48-D50A-4776-8C87-F6D53D45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121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790E6-0E2F-4500-BF58-3A1605DC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deterministic scenarios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6C09E-0EFD-4989-AC0B-C2A03411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4E7E54"/>
                </a:solidFill>
              </a:defRPr>
            </a:pPr>
            <a:r>
              <a:rPr sz="3300" b="1">
                <a:solidFill>
                  <a:srgbClr val="4E7E54"/>
                </a:solidFill>
              </a:rPr>
              <a:t>111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D07E2-69AC-41C5-A3B2-4F43FE6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432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pytest tests passed in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F9561-6A84-4E8B-AD88-6B2B69A3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8A4B2B"/>
                </a:solidFill>
              </a:defRPr>
            </a:pPr>
            <a:r>
              <a:rPr sz="3300" b="1">
                <a:solidFill>
                  <a:srgbClr val="8A4B2B"/>
                </a:solidFill>
              </a:rPr>
              <a:t>0.0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AAC7D-A648-4CAA-A968-BA9FD74E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hallucinated transaction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150A9-74E3-4F05-9F53-E35D573F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88746"/>
                </a:solidFill>
              </a:defRPr>
            </a:pPr>
            <a:r>
              <a:rPr sz="3300" b="1">
                <a:solidFill>
                  <a:srgbClr val="B88746"/>
                </a:solidFill>
              </a:rPr>
              <a:t>1.00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9AAFF-A72E-419D-88A2-5B6B21D6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gate-critical pass rates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3F4F1-0A51-4C1B-9D03-DDFF1C5D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8408E-3ED7-4148-81DA-24E345D8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338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Scorers cover tool selection, argument accuracy, retrieval hits, citations, PII leakage, escalation, policy violations, and transaction consistency.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12437-B07C-457C-A7F3-683E6D35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34659-BC81-4D67-B4DB-8A282DE0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815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Quality thresholds are stored in version-controlled configuration and enforced by python -m evaluation.gate.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07F68-7333-4A41-A019-987B4206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5D267-8ECB-402C-A2A3-302174CD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BCEED-3A33-4A74-94E0-C441772F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3231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2026-08-11T18:15:17.0300000Z</dcterms:created>
  <dcterms:modified xsi:type="dcterms:W3CDTF">2026-08-11T18:15:17.0300000Z</dcterms:modified>
</coreProperties>
</file>