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45b13e7606414a" /><Relationship Type="http://schemas.openxmlformats.org/officeDocument/2006/relationships/extended-properties" Target="/docProps/app.xml" Id="Rd4922e472f714609" /><Relationship Type="http://schemas.openxmlformats.org/officeDocument/2006/relationships/officeDocument" Target="/ppt/presentation.xml" Id="R85990e78dbcd43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383ac336be418b"/>
  </p:sldMasterIdLst>
  <p:notesMasterIdLst>
    <p:notesMasterId xmlns:r="http://schemas.openxmlformats.org/officeDocument/2006/relationships" r:id="R6928a673295f4f0d"/>
  </p:notesMasterIdLst>
  <p:sldIdLst>
    <p:sldId xmlns:r="http://schemas.openxmlformats.org/officeDocument/2006/relationships" id="256" r:id="R09aa7337dd0a4289"/>
    <p:sldId xmlns:r="http://schemas.openxmlformats.org/officeDocument/2006/relationships" id="257" r:id="Rff3ffcc29aa34be3"/>
    <p:sldId xmlns:r="http://schemas.openxmlformats.org/officeDocument/2006/relationships" id="258" r:id="Re1f428080dff4a66"/>
    <p:sldId xmlns:r="http://schemas.openxmlformats.org/officeDocument/2006/relationships" id="259" r:id="R73916f74ff0c437f"/>
    <p:sldId xmlns:r="http://schemas.openxmlformats.org/officeDocument/2006/relationships" id="260" r:id="Ra5cd2663346c46a9"/>
    <p:sldId xmlns:r="http://schemas.openxmlformats.org/officeDocument/2006/relationships" id="261" r:id="Raa41825f08394b3c"/>
    <p:sldId xmlns:r="http://schemas.openxmlformats.org/officeDocument/2006/relationships" id="262" r:id="Rd7a95d414f4c4469"/>
    <p:sldId xmlns:r="http://schemas.openxmlformats.org/officeDocument/2006/relationships" id="263" r:id="Rdc64ecbfbcb647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4b246ce62f472c" /><Relationship Type="http://schemas.openxmlformats.org/officeDocument/2006/relationships/slideMaster" Target="/ppt/slideMasters/slideMaster1.xml" Id="Rc1383ac336be418b" /><Relationship Type="http://schemas.openxmlformats.org/officeDocument/2006/relationships/notesMaster" Target="/ppt/notesMasters/notesMaster1.xml" Id="R6928a673295f4f0d" /><Relationship Type="http://schemas.openxmlformats.org/officeDocument/2006/relationships/presProps" Target="/ppt/presProps.xml" Id="R610779d23b994d09" /><Relationship Type="http://schemas.openxmlformats.org/officeDocument/2006/relationships/tableStyles" Target="/ppt/tableStyles.xml" Id="Rceb1d270e1324457" /><Relationship Type="http://schemas.openxmlformats.org/officeDocument/2006/relationships/slide" Target="/ppt/slides/slide1.xml" Id="R09aa7337dd0a4289" /><Relationship Type="http://schemas.openxmlformats.org/officeDocument/2006/relationships/slide" Target="/ppt/slides/slide2.xml" Id="Rff3ffcc29aa34be3" /><Relationship Type="http://schemas.openxmlformats.org/officeDocument/2006/relationships/slide" Target="/ppt/slides/slide3.xml" Id="Re1f428080dff4a66" /><Relationship Type="http://schemas.openxmlformats.org/officeDocument/2006/relationships/slide" Target="/ppt/slides/slide4.xml" Id="R73916f74ff0c437f" /><Relationship Type="http://schemas.openxmlformats.org/officeDocument/2006/relationships/slide" Target="/ppt/slides/slide5.xml" Id="Ra5cd2663346c46a9" /><Relationship Type="http://schemas.openxmlformats.org/officeDocument/2006/relationships/slide" Target="/ppt/slides/slide6.xml" Id="Raa41825f08394b3c" /><Relationship Type="http://schemas.openxmlformats.org/officeDocument/2006/relationships/slide" Target="/ppt/slides/slide7.xml" Id="Rd7a95d414f4c4469" /><Relationship Type="http://schemas.openxmlformats.org/officeDocument/2006/relationships/slide" Target="/ppt/slides/slide8.xml" Id="Rdc64ecbfbcb647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6fb7fcd03049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3089265e154d8a" /><Relationship Type="http://schemas.openxmlformats.org/officeDocument/2006/relationships/notesMaster" Target="/ppt/notesMasters/notesMaster1.xml" Id="R2d1c75183cc745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0ab357efdb4645" /><Relationship Type="http://schemas.openxmlformats.org/officeDocument/2006/relationships/notesMaster" Target="/ppt/notesMasters/notesMaster1.xml" Id="Raa1669beee6c4c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bfce81e37f49d8" /><Relationship Type="http://schemas.openxmlformats.org/officeDocument/2006/relationships/notesMaster" Target="/ppt/notesMasters/notesMaster1.xml" Id="Refba41ab4ea848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67fc6c21554ecf" /><Relationship Type="http://schemas.openxmlformats.org/officeDocument/2006/relationships/notesMaster" Target="/ppt/notesMasters/notesMaster1.xml" Id="R67c96d6ee44042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d6baae84b84ad6" /><Relationship Type="http://schemas.openxmlformats.org/officeDocument/2006/relationships/notesMaster" Target="/ppt/notesMasters/notesMaster1.xml" Id="Rb97a723a9e3147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8c9df36b334f74" /><Relationship Type="http://schemas.openxmlformats.org/officeDocument/2006/relationships/notesMaster" Target="/ppt/notesMasters/notesMaster1.xml" Id="Redd71c55f25044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a55c22e1b349f2" /><Relationship Type="http://schemas.openxmlformats.org/officeDocument/2006/relationships/notesMaster" Target="/ppt/notesMasters/notesMaster1.xml" Id="Rd205f8fe3b004e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f2b600a08e4edb" /><Relationship Type="http://schemas.openxmlformats.org/officeDocument/2006/relationships/notesMaster" Target="/ppt/notesMasters/notesMaster1.xml" Id="Reea1c393927e4b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0e284572d42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1c724c9cde4cec" /><Relationship Type="http://schemas.openxmlformats.org/officeDocument/2006/relationships/slideLayout" Target="/ppt/slideLayouts/slideLayout1.xml" Id="R40cfe88e47804b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cfe88e47804b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a340074394da4" /><Relationship Type="http://schemas.openxmlformats.org/officeDocument/2006/relationships/notesSlide" Target="/ppt/notesSlides/notesSlide1.xml" Id="R1cf3e42c842445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2cc0f68ab41e5" /><Relationship Type="http://schemas.openxmlformats.org/officeDocument/2006/relationships/notesSlide" Target="/ppt/notesSlides/notesSlide2.xml" Id="R0ac675a9102143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97bda27fb46e9" /><Relationship Type="http://schemas.openxmlformats.org/officeDocument/2006/relationships/notesSlide" Target="/ppt/notesSlides/notesSlide3.xml" Id="R12ca35bb41a946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2dd6c6f8847d9" /><Relationship Type="http://schemas.openxmlformats.org/officeDocument/2006/relationships/notesSlide" Target="/ppt/notesSlides/notesSlide4.xml" Id="R1a26648bf3564f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6e00f99514ec3" /><Relationship Type="http://schemas.openxmlformats.org/officeDocument/2006/relationships/notesSlide" Target="/ppt/notesSlides/notesSlide5.xml" Id="Rf47d7d20251545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23c70d3ee4045" /><Relationship Type="http://schemas.openxmlformats.org/officeDocument/2006/relationships/notesSlide" Target="/ppt/notesSlides/notesSlide6.xml" Id="R079d4001ab1a44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b24a9646c4d36" /><Relationship Type="http://schemas.openxmlformats.org/officeDocument/2006/relationships/notesSlide" Target="/ppt/notesSlides/notesSlide7.xml" Id="Rec3be229681e44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e92da32a84b69" /><Relationship Type="http://schemas.openxmlformats.org/officeDocument/2006/relationships/notesSlide" Target="/ppt/notesSlides/notesSlide8.xml" Id="R6fcd64fa1fc144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CEB7E-5F51-445F-AD02-4AE2B0EC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62A"/>
                </a:solidFill>
              </a:defRPr>
            </a:pPr>
            <a:r>
              <a:rPr sz="4350" b="1">
                <a:solidFill>
                  <a:srgbClr val="1F262A"/>
                </a:solidFill>
              </a:rPr>
              <a:t>DealerAI 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C2C4F-F5C5-4249-A494-9BE3821B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BB9A1-AFC3-438F-B32A-62BAF22E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5C5A"/>
                </a:solidFill>
              </a:defRPr>
            </a:pPr>
            <a:r>
              <a:rPr sz="2100" b="0">
                <a:solidFill>
                  <a:srgbClr val="245C5A"/>
                </a:solidFill>
              </a:rPr>
              <a:t>Production-oriented agentic AI and predictive intelligence for automotive dealerships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F4673-FED1-449B-9772-2F27875C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7A"/>
                </a:solidFill>
              </a:defRPr>
            </a:pPr>
            <a:r>
              <a:rPr sz="1500" b="0">
                <a:solidFill>
                  <a:srgbClr val="68767A"/>
                </a:solidFill>
              </a:rPr>
              <a:t>Interview explainer | implemented capabilities, architecture decisions, and honest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B746C-3373-4361-B9C5-4ED97135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086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Local-first reference implementation</a:t>
            </a:r>
          </a:p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No real PII | No paid API required | AWS mapping documented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D4CD3-1DB9-4085-AD1C-581E434E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7A"/>
                </a:solidFill>
              </a:defRPr>
            </a:pPr>
            <a:r>
              <a:rPr sz="1350" b="0">
                <a:solidFill>
                  <a:srgbClr val="68767A"/>
                </a:solidFill>
              </a:rPr>
              <a:t>Built for senior AI/ML engineering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1D064-0275-4B35-BCC1-E3C11FBA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3F211-0113-4C0F-BD9C-06E47178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57700-7324-4CA0-92E1-A3589A3D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9471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B78C8-F02A-46AF-9C30-57EF3C4B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A2A90-593B-490A-954F-62944253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project proves agentic AI can be engineered, tested, and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08056-268A-42C6-B2D4-E681C577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53F28-F40C-4938-A449-D6FA257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LLM reasoning is separated from domain logic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C2247-2179-4ABC-8FCB-6C346812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845C8-2C6E-452B-9B24-1EF2CB34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All external actions happen through typed Pydantic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8F4AA-6F00-4BE2-8181-0CDCAEF5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CE9E9-EF33-42ED-8B9B-29BBCC04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Predictive ML and RAG are implemented as independent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03515-013B-4556-8683-5A7240CD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72A92-231F-4112-8901-46438E6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Guardrails, escalation, evaluation, and observability are first-class.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8DA74-9C45-4FB3-ADEE-E2EE5BA4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Core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The system is designed around transaction safety and measurable behavior, not chatbot novelty.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0C661-E49A-46BB-A05B-3B8DA896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070C3-DC6D-4A9F-83A5-8E6B4629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19117-900D-4B29-9C93-7D56CC07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92292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8F186-1A11-49C7-8DEA-A2537D47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BUSINESS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C9C5E-8179-42EB-8EFA-3AE6C778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dealership problem is operational, not conversational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30B4A-B6EF-4EF5-A1C8-7AB4A287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Unsafe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F9C0A-B173-4478-AFC4-F636B08F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Book, cancel, or reschedule without explicit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6340A-5E73-40B7-AA64-4A9F4B33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PII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1DEE0-52DE-4F8C-80E8-F00B48CA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Reveal customer contact data or internal 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A06F9-C35D-4FF9-BB0C-C6ADE50F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Ungrounded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75D43-8CA5-4151-9FFD-8A7C298E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Answer warranty or scheduling questions without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0B34B-97F6-4077-827D-C964D216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False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F3C76-48B8-44B5-8DD5-A5A13B2F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Claim a transaction succeeded when the tool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8347A-B670-4EFA-BFED-8732DB82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156C0-6587-4586-AFC3-D8F979B5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3B70A-82D4-441E-8B64-251796D5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494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10700-9A05-42CD-949C-B0D441AF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501C0-17F4-43FF-BBE7-7C7A9206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Architecture keeps reasoning, tools, data, and evaluation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2E1BC-30D0-44C3-8CC9-5AD33461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FastAPI / Streamlit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CB6DF-3A8A-4F4A-83F3-A3D7F131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Agent orchestrator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C4107-5024-493C-B2C5-421D6C17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Guardrails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FAD0D-F142-4C2A-9E6E-81390FD0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Provider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29A64-506F-451C-8A69-FEEFD55C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Typed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20E96-C41A-4FE9-BCC2-83226236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Services + repos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8820B-9277-4340-B941-D2F78C0B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3B1EB-9DE1-4DB4-8891-18F300A1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B40B8-B73A-450B-9EE6-9DEAAF48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45F9E-AA8A-4EC2-85E3-8C9E7F1C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B5897-745E-4F86-9C15-14D54BD4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575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C189F-E33E-419C-8C21-E1D241A1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387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5C5A"/>
                </a:solidFill>
              </a:defRPr>
            </a:pPr>
            <a:r>
              <a:rPr sz="1800" b="0">
                <a:solidFill>
                  <a:srgbClr val="245C5A"/>
                </a:solidFill>
              </a:rPr>
              <a:t>ML inference, human escalation, observability, and evaluation wrap the operational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FEC17-AFAE-4745-A760-7D6C8A61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EBFF8-D54C-415E-A79E-E677A14B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EEF07-1D9C-458C-8EF7-3CF6144E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30057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585805-9C75-45A0-A72C-8C69DC0B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DATA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087BB-04A7-4EAA-B5E4-8F8741C1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Synthetic domain data makes the project runnable without PII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C3F6F-F40C-4A89-A9F8-A591BFF3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FCBDE-98FA-4B73-ABFD-E373EAFE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customers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46AE2-EFAE-4917-9C11-8E83FF3C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EACF7-37EB-4669-80F6-5F60DE8F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owned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19812-C8DB-4A62-BA9E-CC04D4B6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300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AED38-2B35-4F77-929F-E6B06B82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inventory vehicles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25CED-544F-4A9B-B9D8-305F7FBA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5,000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24D61-4AD8-456E-82E5-71010124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historical appointments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6E3F3-F3B2-416B-8781-21EB3B5D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E2FDA-B359-406F-A207-128AB6B3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38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Models relationships across customers, vehicles, appointments, service history, slots, leads, conversations, tool executions, and escalations.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266B1-E071-4C9F-BFA2-67D5EBA6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AFCE6-89DC-4C01-993D-48311931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01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generation supports repeatable tests, evaluation reports, and model artifacts.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77A0F-A8EC-49B2-B241-01627C84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C6262-C716-49F9-8E2B-CB4DCBF3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81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Feature design avoids real PII and protected-class fields.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198C5-610E-417C-8BB6-2DCC8558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E4F6B-218E-4894-8C31-8577E829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2EFAC-AC89-48BA-A62B-B151358C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17212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9F761-519D-4691-9933-AE165B41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PREDICTIVE 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DD89A-E196-4835-9DF9-8B93430F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No-show prediction is built as a real ML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53CBC-026B-4417-87FD-719904BC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Synthetic appointment data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booking-time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C53F2-2C22-47B0-B97C-160BF80F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Leakage inspection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exclude outcome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960B3-3FB3-48C1-A2C0-89234369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sklearn pipeline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preprocessing stays aligned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AAE23-4C65-4BC3-B4E7-3299D994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Model comparison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baseline + calibrated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7CC50-C628-4799-AC4C-1DFAE6A7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Risk tiers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LOW to VERY_HIGH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9087A-EF50-415F-A716-5D6FD3E5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8DB51-DAA3-4992-9FBD-4E601FBB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A1305-CBE2-4440-8063-979FD867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58A92-B042-4706-80AA-F4DE2F5E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151E5-3F0C-4872-BFB2-C41ACDE4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99822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Evaluated with ROC-AUC, PR-AUC, precision, recall, F1, Brier score, confusion matrix, calibration diagnostics, and threshold analysis.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71BCD-C9FA-4A8A-A6EB-9D69BD1D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841E6-575F-49F1-B990-435B4E46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003C3-3FE1-437B-83C0-C0FC44F0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17995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D7A3B-A5B6-4C78-A6F5-F8258E4B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F2929-4D72-454E-8DAC-9B5255AE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RAG is citation-first and evaluated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66433-FEED-45AF-9400-E185AFE6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Knowledge corpus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B3042-A77D-4D01-87DC-0E6735F7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478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fictional dealership policies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40005-1B8F-4609-8091-2BB72AC9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Normalize + chunk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A4BE0-77B8-469B-A0AA-FE24621C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section-aware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5B7A7-1241-48D9-A13C-564A97E6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Local embeddings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8E513-C923-413D-9569-4230153A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test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121FE-71E9-4A56-B9E5-0941075E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Retrieve + cite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535DF-4FF1-4A17-BB2F-E13E456F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39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document, section, chunk,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8D486-7A8A-4184-B43D-8DD521F1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479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Retrieval eval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Recall@K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MRR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Hit Rate@K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109B8-BA6C-498D-BEE1-4AE33985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F0474-C234-48C8-8FFE-8E879D32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1C0BB-DDDB-4DC1-BDB1-D81F8D33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488787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EF6C8-1B62-4E5A-AB5B-E5C68999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FUNCTION CALLING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D4A25-BCFB-4C83-BC15-1D905805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Tool calling is the safety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499DC-D867-4A4C-8B0B-C83F0936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Tool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CB7CB-413E-4FC5-9E3B-86FB7CBB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Pydantic input/output schemas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risk level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confirmation flag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72F43-3E7F-4088-838F-42311E33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Execution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78EE3-1EC1-408D-816F-0A0E2834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authorization hook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request ID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audit logging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B9D65-030C-4210-9298-87E8B5AD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Write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F2EA2-A32E-4D5F-916A-A0130C51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explicit confirmation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transactions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idempotency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80BD8-895E-4CD8-839E-6C8A55D4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A4B2B"/>
                </a:solidFill>
              </a:defRPr>
            </a:pPr>
            <a:r>
              <a:rPr sz="1875" b="1">
                <a:solidFill>
                  <a:srgbClr val="8A4B2B"/>
                </a:solidFill>
              </a:rPr>
              <a:t>The LLM may request a tool. The application decides whether that request is valid, authorized, confirmed, and safe.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325BF-72DD-4335-A0A6-C1A20C13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04CF6-4A0D-45F8-BF59-1CEF0974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D976B-BDA7-43D8-BC1E-AAA26CF3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7091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2026-08-11T18:14:41.4700000Z</dcterms:created>
  <dcterms:modified xsi:type="dcterms:W3CDTF">2026-08-11T18:14:41.4700000Z</dcterms:modified>
</coreProperties>
</file>