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1fa63c3fa24857" /><Relationship Type="http://schemas.openxmlformats.org/officeDocument/2006/relationships/extended-properties" Target="/docProps/app.xml" Id="R78d64f12216149e3" /><Relationship Type="http://schemas.openxmlformats.org/officeDocument/2006/relationships/officeDocument" Target="/ppt/presentation.xml" Id="Rf5e190a4631948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73de2c7e1b4fe2"/>
  </p:sldMasterIdLst>
  <p:notesMasterIdLst>
    <p:notesMasterId xmlns:r="http://schemas.openxmlformats.org/officeDocument/2006/relationships" r:id="Re64db9d8e33948f7"/>
  </p:notesMasterIdLst>
  <p:sldIdLst>
    <p:sldId xmlns:r="http://schemas.openxmlformats.org/officeDocument/2006/relationships" id="256" r:id="R00d572189a5d4575"/>
    <p:sldId xmlns:r="http://schemas.openxmlformats.org/officeDocument/2006/relationships" id="257" r:id="R1b38727e7cae4a03"/>
    <p:sldId xmlns:r="http://schemas.openxmlformats.org/officeDocument/2006/relationships" id="258" r:id="R48926d746dc542d2"/>
    <p:sldId xmlns:r="http://schemas.openxmlformats.org/officeDocument/2006/relationships" id="259" r:id="Rd4d4345010eb4add"/>
    <p:sldId xmlns:r="http://schemas.openxmlformats.org/officeDocument/2006/relationships" id="260" r:id="R35addb49e0cf4cbc"/>
    <p:sldId xmlns:r="http://schemas.openxmlformats.org/officeDocument/2006/relationships" id="261" r:id="R087866c932d7422f"/>
    <p:sldId xmlns:r="http://schemas.openxmlformats.org/officeDocument/2006/relationships" id="262" r:id="Rdac7c93fa55f43d5"/>
    <p:sldId xmlns:r="http://schemas.openxmlformats.org/officeDocument/2006/relationships" id="263" r:id="R946b2b30ef4148d5"/>
    <p:sldId xmlns:r="http://schemas.openxmlformats.org/officeDocument/2006/relationships" id="264" r:id="R7481c5c8e087496d"/>
    <p:sldId xmlns:r="http://schemas.openxmlformats.org/officeDocument/2006/relationships" id="265" r:id="Rc55dffbc6ca54e89"/>
    <p:sldId xmlns:r="http://schemas.openxmlformats.org/officeDocument/2006/relationships" id="266" r:id="R643c38eee4da4ed9"/>
    <p:sldId xmlns:r="http://schemas.openxmlformats.org/officeDocument/2006/relationships" id="267" r:id="R9f608966b1ab45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a625c2695c419e" /><Relationship Type="http://schemas.openxmlformats.org/officeDocument/2006/relationships/slideMaster" Target="/ppt/slideMasters/slideMaster1.xml" Id="R3573de2c7e1b4fe2" /><Relationship Type="http://schemas.openxmlformats.org/officeDocument/2006/relationships/notesMaster" Target="/ppt/notesMasters/notesMaster1.xml" Id="Re64db9d8e33948f7" /><Relationship Type="http://schemas.openxmlformats.org/officeDocument/2006/relationships/presProps" Target="/ppt/presProps.xml" Id="R84abb79b0ae84837" /><Relationship Type="http://schemas.openxmlformats.org/officeDocument/2006/relationships/tableStyles" Target="/ppt/tableStyles.xml" Id="R458ae36df6f14573" /><Relationship Type="http://schemas.openxmlformats.org/officeDocument/2006/relationships/slide" Target="/ppt/slides/slide1.xml" Id="R00d572189a5d4575" /><Relationship Type="http://schemas.openxmlformats.org/officeDocument/2006/relationships/slide" Target="/ppt/slides/slide2.xml" Id="R1b38727e7cae4a03" /><Relationship Type="http://schemas.openxmlformats.org/officeDocument/2006/relationships/slide" Target="/ppt/slides/slide3.xml" Id="R48926d746dc542d2" /><Relationship Type="http://schemas.openxmlformats.org/officeDocument/2006/relationships/slide" Target="/ppt/slides/slide4.xml" Id="Rd4d4345010eb4add" /><Relationship Type="http://schemas.openxmlformats.org/officeDocument/2006/relationships/slide" Target="/ppt/slides/slide5.xml" Id="R35addb49e0cf4cbc" /><Relationship Type="http://schemas.openxmlformats.org/officeDocument/2006/relationships/slide" Target="/ppt/slides/slide6.xml" Id="R087866c932d7422f" /><Relationship Type="http://schemas.openxmlformats.org/officeDocument/2006/relationships/slide" Target="/ppt/slides/slide7.xml" Id="Rdac7c93fa55f43d5" /><Relationship Type="http://schemas.openxmlformats.org/officeDocument/2006/relationships/slide" Target="/ppt/slides/slide8.xml" Id="R946b2b30ef4148d5" /><Relationship Type="http://schemas.openxmlformats.org/officeDocument/2006/relationships/slide" Target="/ppt/slides/slide9.xml" Id="R7481c5c8e087496d" /><Relationship Type="http://schemas.openxmlformats.org/officeDocument/2006/relationships/slide" Target="/ppt/slides/slide10.xml" Id="Rc55dffbc6ca54e89" /><Relationship Type="http://schemas.openxmlformats.org/officeDocument/2006/relationships/slide" Target="/ppt/slides/slide11.xml" Id="R643c38eee4da4ed9" /><Relationship Type="http://schemas.openxmlformats.org/officeDocument/2006/relationships/slide" Target="/ppt/slides/slide12.xml" Id="R9f608966b1ab45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91b7404f9346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46a7ffb4794c91" /><Relationship Type="http://schemas.openxmlformats.org/officeDocument/2006/relationships/notesMaster" Target="/ppt/notesMasters/notesMaster1.xml" Id="R83ec7c00dd2a4d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7fd625008640d4" /><Relationship Type="http://schemas.openxmlformats.org/officeDocument/2006/relationships/notesMaster" Target="/ppt/notesMasters/notesMaster1.xml" Id="R4c216601a3e842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0de904c1014940" /><Relationship Type="http://schemas.openxmlformats.org/officeDocument/2006/relationships/notesMaster" Target="/ppt/notesMasters/notesMaster1.xml" Id="Rba4c4abda9c5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709682369243c1" /><Relationship Type="http://schemas.openxmlformats.org/officeDocument/2006/relationships/notesMaster" Target="/ppt/notesMasters/notesMaster1.xml" Id="Rba0a5fa0c12848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d33626168c4066" /><Relationship Type="http://schemas.openxmlformats.org/officeDocument/2006/relationships/notesMaster" Target="/ppt/notesMasters/notesMaster1.xml" Id="Rb7e69ad8cf764c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ccae1b6c864098" /><Relationship Type="http://schemas.openxmlformats.org/officeDocument/2006/relationships/notesMaster" Target="/ppt/notesMasters/notesMaster1.xml" Id="R9eca93b205a149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8ed2e70b274109" /><Relationship Type="http://schemas.openxmlformats.org/officeDocument/2006/relationships/notesMaster" Target="/ppt/notesMasters/notesMaster1.xml" Id="Rec37cbd8dfff43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56283c6dbd4464" /><Relationship Type="http://schemas.openxmlformats.org/officeDocument/2006/relationships/notesMaster" Target="/ppt/notesMasters/notesMaster1.xml" Id="R670092a94e5a49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7397ac0e524c59" /><Relationship Type="http://schemas.openxmlformats.org/officeDocument/2006/relationships/notesMaster" Target="/ppt/notesMasters/notesMaster1.xml" Id="Rc97cfbcc903f49c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83e21432b40445b" /><Relationship Type="http://schemas.openxmlformats.org/officeDocument/2006/relationships/notesMaster" Target="/ppt/notesMasters/notesMaster1.xml" Id="R0b2befa9aad849d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d7389c563094ae4" /><Relationship Type="http://schemas.openxmlformats.org/officeDocument/2006/relationships/notesMaster" Target="/ppt/notesMasters/notesMaster1.xml" Id="R33591d0c2d6e4f0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96e2218fab42b0" /><Relationship Type="http://schemas.openxmlformats.org/officeDocument/2006/relationships/notesMaster" Target="/ppt/notesMasters/notesMaster1.xml" Id="Rac557f2b3d5046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8a117069f349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c9155f579e450e" /><Relationship Type="http://schemas.openxmlformats.org/officeDocument/2006/relationships/slideLayout" Target="/ppt/slideLayouts/slideLayout1.xml" Id="R04fd52a445fd4e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fd52a445fd4e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ec18be4c942b2" /><Relationship Type="http://schemas.openxmlformats.org/officeDocument/2006/relationships/notesSlide" Target="/ppt/notesSlides/notesSlide1.xml" Id="R5872f65290ce49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8f9ea27d8a47d0" /><Relationship Type="http://schemas.openxmlformats.org/officeDocument/2006/relationships/notesSlide" Target="/ppt/notesSlides/notesSlide2.xml" Id="R9c5f831ace2a4f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85445d5ad4a13" /><Relationship Type="http://schemas.openxmlformats.org/officeDocument/2006/relationships/notesSlide" Target="/ppt/notesSlides/notesSlide3.xml" Id="R3b78ba0ddfbc4a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aa2aea65d84ac0" /><Relationship Type="http://schemas.openxmlformats.org/officeDocument/2006/relationships/notesSlide" Target="/ppt/notesSlides/notesSlide4.xml" Id="Rf0a8bd7bbfa843b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d5b0c920a4a17" /><Relationship Type="http://schemas.openxmlformats.org/officeDocument/2006/relationships/notesSlide" Target="/ppt/notesSlides/notesSlide5.xml" Id="R6854d8bccf5b48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3336e32aa4b7f" /><Relationship Type="http://schemas.openxmlformats.org/officeDocument/2006/relationships/notesSlide" Target="/ppt/notesSlides/notesSlide6.xml" Id="Rda6d74601eb343e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ca0313ccc3490c" /><Relationship Type="http://schemas.openxmlformats.org/officeDocument/2006/relationships/notesSlide" Target="/ppt/notesSlides/notesSlide7.xml" Id="Rf2e6a6264d824b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4faca10194b4d" /><Relationship Type="http://schemas.openxmlformats.org/officeDocument/2006/relationships/notesSlide" Target="/ppt/notesSlides/notesSlide8.xml" Id="Rb351d8607c4d47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cdda8506ec4894" /><Relationship Type="http://schemas.openxmlformats.org/officeDocument/2006/relationships/notesSlide" Target="/ppt/notesSlides/notesSlide9.xml" Id="R07461df5a5c1457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e02faa13641d5" /><Relationship Type="http://schemas.openxmlformats.org/officeDocument/2006/relationships/notesSlide" Target="/ppt/notesSlides/notesSlide10.xml" Id="R43a674b46fd546b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d150fc97d4a9a" /><Relationship Type="http://schemas.openxmlformats.org/officeDocument/2006/relationships/notesSlide" Target="/ppt/notesSlides/notesSlide11.xml" Id="R5df75deac31740b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6bcc79c2e4b35" /><Relationship Type="http://schemas.openxmlformats.org/officeDocument/2006/relationships/notesSlide" Target="/ppt/notesSlides/notesSlide12.xml" Id="R7e06dfd7e50145c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8370C2-91C3-43F4-BFEB-A540462B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162050"/>
            <a:ext cx="723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F262A"/>
                </a:solidFill>
              </a:defRPr>
            </a:pPr>
            <a:r>
              <a:rPr sz="4350" b="1">
                <a:solidFill>
                  <a:srgbClr val="1F262A"/>
                </a:solidFill>
              </a:rPr>
              <a:t>DealerAI 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BE1E5-E36F-4AB5-8F02-FEC64025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2000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3F66A-E0C0-44D0-8F48-AE82FBEE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45C5A"/>
                </a:solidFill>
              </a:defRPr>
            </a:pPr>
            <a:r>
              <a:rPr sz="2100" b="0">
                <a:solidFill>
                  <a:srgbClr val="245C5A"/>
                </a:solidFill>
              </a:rPr>
              <a:t>Production-oriented agentic AI and predictive intelligence for automotive dealerships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0D267B-B0EC-4771-BD2D-E89D57E9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8767A"/>
                </a:solidFill>
              </a:defRPr>
            </a:pPr>
            <a:r>
              <a:rPr sz="1500" b="0">
                <a:solidFill>
                  <a:srgbClr val="68767A"/>
                </a:solidFill>
              </a:rPr>
              <a:t>Interview explainer | implemented capabilities, architecture decisions, and honest limitations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E7968-3D4E-42CF-960B-DBFC4B95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0861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Local-first reference implementation</a:t>
            </a:r>
          </a:p>
          <a:p xmlns:a="http://schemas.openxmlformats.org/drawingml/2006/main">
            <a:pPr algn="ctr">
              <a:defRPr sz="1800" b="1">
                <a:solidFill>
                  <a:srgbClr val="1F262A"/>
                </a:solidFill>
              </a:defRPr>
            </a:pPr>
            <a:r>
              <a:rPr sz="1800" b="1">
                <a:solidFill>
                  <a:srgbClr val="1F262A"/>
                </a:solidFill>
              </a:rPr>
              <a:t>No real PII | No paid API required | AWS mapping documented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EB464-0609-41A6-9FAB-9B8B7D88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552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67A"/>
                </a:solidFill>
              </a:defRPr>
            </a:pPr>
            <a:r>
              <a:rPr sz="1350" b="0">
                <a:solidFill>
                  <a:srgbClr val="68767A"/>
                </a:solidFill>
              </a:rPr>
              <a:t>Built for senior AI/ML engineering discussion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128E0-0E03-4782-B5D5-60F0AE05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2B6EE-1B98-4C98-80FE-5D1688B5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AD86B-8536-4AB6-AAF6-72D1D464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0302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2C08E8-7662-4559-B7DB-C450EBD6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99E7CE-50D0-49BB-878B-73C34EEB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project proves agentic AI can be engineered, tested, and bounded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6362EA-02A5-4B43-9B91-2C2EA7806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669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47572-CB22-4FAE-88DB-C111D8E3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LLM reasoning is separated from domain logic and persistence.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2A4BE-70FB-4AF3-AF12-BC4B86178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06AC0-7C90-4FD8-975D-DF9548893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All external actions happen through typed Pydantic tools.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1664FE-A28D-4B9F-9DA5-BADA0D52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147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F3C303-D66C-4E1B-A8BE-4B6A6101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Predictive ML and RAG are implemented as independent services.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E888CB-2CD1-42F4-AF20-AEBAC9D2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386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C9A834-9FED-4E3C-AA5A-5DFBC752D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809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Guardrails, escalation, evaluation, and observability are first-class.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A0BD88-F53B-4E47-8A5E-43D73EE2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Core claim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245C5A"/>
                </a:solidFill>
              </a:defRPr>
            </a:pPr>
            <a:r>
              <a:rPr sz="1650" b="1">
                <a:solidFill>
                  <a:srgbClr val="245C5A"/>
                </a:solidFill>
              </a:rPr>
              <a:t>The system is designed around transaction safety and measurable behavior, not chatbot novelty.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D3941-104D-4F52-83FA-50D9A0FC8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B585E-7137-4280-B758-5F9ADDF3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E6B00A-A8E0-44FB-8FCA-78E6FF30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3986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8EF4C5-EBDE-4078-B2DA-0B841A6F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BUSINESS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74469-3EB5-49A6-B70B-6E0E25B5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dealership problem is operational, not conversational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EC761C-19A2-4630-A2E3-C07AF6F2E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Unsafe write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1DCC3-6051-49A0-915A-8C09909F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Book, cancel, or reschedule without explicit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1675C6-DD29-431D-A57D-BAB1424A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52625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PII exposure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DE026-B1D3-40FA-AD29-A5CE3168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47925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Reveal customer contact data or internal configuration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B6C3C-A434-4DDA-AE59-BA458031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Ungrounded policy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78CE9E-154E-48FD-A833-4B5FB331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Answer warranty or scheduling questions without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27C6F-E622-4628-A87A-8F6EE4C7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14750"/>
            <a:ext cx="4381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False success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2A6AB-E3C4-41F1-A85C-419456371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210050"/>
            <a:ext cx="4381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Claim a transaction succeeded when the tool failed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6F443-DB8F-44B8-A753-F076DFB0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2B2AB-2BBB-4A74-B8DE-D7D63B4C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EFC14-FE55-43E2-BB3E-44F333D8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772800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3E89AB-AEAC-4CFD-87AA-276FA6ECD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79CA08-9E32-4B5C-BE22-8DB66656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Architecture keeps reasoning, tools, data, and evaluation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E3532-74AE-4F1C-BFB1-5468A844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FastAPI / Streamlit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BE60B-4036-4254-87CF-40B34A18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Agent orchestrator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420C2-D5A8-48F4-B417-C70AC509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Guardrails + RAG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B84C7-C2A6-4CCC-BE38-872EC4B5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12420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Provider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A43108-EE65-451C-A6E4-2255A104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Typed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1531C-C43D-4AE1-AE07-B1127920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F262A"/>
                </a:solidFill>
              </a:defRPr>
            </a:pPr>
            <a:r>
              <a:rPr sz="1425" b="1">
                <a:solidFill>
                  <a:srgbClr val="1F262A"/>
                </a:solidFill>
              </a:rPr>
              <a:t>Services + repos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A0658F-4F24-40D4-96E3-1DD2D891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F095C-B39C-4F5C-8812-538C12A7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27CE1-BDFF-4C2C-826A-B5DA8DAE9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765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C39E38-3E1A-44B6-8553-20214ECC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381250"/>
            <a:ext cx="1638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retrieval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22E897-A3C4-45AA-A1A9-2D847A66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57550"/>
            <a:ext cx="1257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67A"/>
                </a:solidFill>
              </a:defRPr>
            </a:pPr>
            <a:r>
              <a:rPr sz="1200" b="0">
                <a:solidFill>
                  <a:srgbClr val="68767A"/>
                </a:solidFill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0AA319-ECCE-45C8-881C-FFBBB0DB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38700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5C5A"/>
                </a:solidFill>
              </a:defRPr>
            </a:pPr>
            <a:r>
              <a:rPr sz="1800" b="0">
                <a:solidFill>
                  <a:srgbClr val="245C5A"/>
                </a:solidFill>
              </a:rPr>
              <a:t>ML inference, human escalation, observability, and evaluation wrap the operational path.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6FF271-85C2-454D-9D0A-14427BA4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5E765D-ABF5-4F57-AAA0-60338EEDD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2B14D0-AB08-4007-9B5B-532DF1D1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69398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679948-E194-47B9-91A8-9D45A722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F2906-1A31-4123-B711-207437910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Synthetic domain data makes the project runnable without PII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55A4E-629B-437B-A1F8-545DF1B2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2,000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D592D-A625-415B-8788-575ABF31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customers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ED73C-251B-4B6B-BF60-D126E70E8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2,500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DB6EC-F282-4E68-A8B8-7C9C57A7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owned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3303F-3CE4-487C-94B0-FA1517E9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300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A5FF2-3D11-4D2E-B588-FC12C9DF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inventory vehicles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DEC222-3CA0-4574-8BBB-3D51673F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5,000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0185D-90AC-472D-BA6F-FFD0F14C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76225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historical appointments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E4BA1A-EF97-4364-BDC6-9FFDF107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C5266-3ABC-40C6-9B71-9E8F1BF7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38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Models relationships across customers, vehicles, appointments, service history, slots, leads, conversations, tool executions, and escalations.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FEEEEF-40DD-4AF1-9880-B7212787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9E0B55-CAA0-475F-B74A-1CA68C60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101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generation supports repeatable tests, evaluation reports, and model artifacts.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846D84-6833-4234-9F14-F8FC0B9E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48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CFB40E-0A66-4F77-9159-330991F64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81625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Feature design avoids real PII and protected-class fields.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9F1C3-B7AD-4C5D-B9EB-2977CE98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57D684-D502-48F8-8FD2-E331E106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C510A-9722-4BCF-9DD4-5864D662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908400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C01AE-DEFF-4B6F-A5EF-D0EDF3CB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PREDICTIVE ML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643E8-68AB-49B1-934D-7626CC0C2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No-show prediction is built as a real ML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CDA30D-31E4-49F2-9DEC-6A67BB791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Synthetic appointment data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booking-time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513DE-0770-468B-8067-48B89F93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Leakage inspection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exclude outcome signals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478A79-429A-4840-B8CA-9212EEA9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sklearn pipeline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preprocessing stays aligned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EF2CC1-4BB5-463F-8568-426EA3A0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Model comparison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baseline + calibrated tree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ABA6F0-30AC-4A39-9833-A346147D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52650"/>
            <a:ext cx="16954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Risk tiers</a:t>
            </a:r>
          </a:p>
          <a:p xmlns:a="http://schemas.openxmlformats.org/drawingml/2006/main">
            <a:pPr algn="ctr">
              <a:defRPr sz="1350" b="1">
                <a:solidFill>
                  <a:srgbClr val="1F262A"/>
                </a:solidFill>
              </a:defRPr>
            </a:pPr>
            <a:r>
              <a:rPr sz="1350" b="1">
                <a:solidFill>
                  <a:srgbClr val="1F262A"/>
                </a:solidFill>
              </a:rPr>
              <a:t>LOW to VERY_HIGH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5C9410-1740-4ED4-908C-D37F22D9C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99984-4190-45F7-B0D9-F7D662F4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52EA42-F10E-4033-8D43-3E9413B6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1DD16D-1A10-45DD-A85B-A285215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527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68767A"/>
                </a:solidFill>
              </a:defRPr>
            </a:pPr>
            <a:r>
              <a:rPr sz="2100" b="1">
                <a:solidFill>
                  <a:srgbClr val="68767A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CF5DAE-CA18-4742-9759-E7B434C6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91000"/>
            <a:ext cx="99822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F262A"/>
                </a:solidFill>
              </a:defRPr>
            </a:pPr>
            <a:r>
              <a:rPr sz="1725" b="0">
                <a:solidFill>
                  <a:srgbClr val="1F262A"/>
                </a:solidFill>
              </a:rPr>
              <a:t>Evaluated with ROC-AUC, PR-AUC, precision, recall, F1, Brier score, confusion matrix, calibration diagnostics, and threshold analysis.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615054-11F4-4E0A-99E9-E5B09648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7707B5-0BDD-4927-AEA2-EB6B0CB3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1E8C40-80BE-4057-A460-755EB862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3114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E0DF4A-7745-4CC6-97A3-8A74A74B1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RETRIEVAL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88584-A36C-4DCB-AE92-9F6D13EE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RAG is citation-first and evaluated separately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11D20-F866-44E1-9C26-5D34FC5A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478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Knowledge corpus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87FAB-3C5A-4249-968E-4C78E6D7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8478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fictional dealership policies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77200-E1BF-4FC5-93BB-388448C2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Normalize + chunk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8EA560-153A-4310-8722-9E0B2252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section-aware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871BF-F49A-4A5C-B144-917415BD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385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Local embeddings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66246-9280-43B8-82D9-D16718C8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63855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deterministic test mode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67BB8-AE16-4595-B82E-E778302C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Retrieve + cite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EB68CA-34F7-486D-A51C-456B8A68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533900"/>
            <a:ext cx="5334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document, section, chunk, score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B04B36-3C64-43ED-84F8-F36FFED2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247900"/>
            <a:ext cx="1714500" cy="2095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Retrieval eval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Recall@K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MRR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Hit Rate@K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0D9C2-B486-4383-9BA3-836D303C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FB54F-297B-4E12-BFB7-A25607ED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B59C0-FC83-4D0F-BDC6-F7D8A703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7010224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3F396-4D21-4020-99FE-7991524C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FUNCTION CALLING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FC8DE2-9801-46F6-B6D7-B44AD989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Tool calling is the safety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988A67-301E-48D9-8E44-C8A4CE04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Tool contract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204D8-0EB5-47E8-BB90-3EF968F7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Pydantic input/output schemas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risk level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confirmation flag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B7EEE-FC9E-48D1-A914-0CB256F1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Execution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77B36-292E-4A1E-9AEB-73960CE4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authorization hook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request ID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audit logging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487BF-09DA-4855-9D7D-0E22AFE69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38350"/>
            <a:ext cx="2857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Write safety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12658D-FF1C-4C29-A445-F548E7C3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2857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explicit confirmation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transactions</a:t>
            </a:r>
          </a:p>
          <a:p xmlns:a="http://schemas.openxmlformats.org/drawingml/2006/main">
            <a:pPr algn="ctr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idempotency records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B16CE-AEBF-4023-B0CE-332EB06D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435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8A4B2B"/>
                </a:solidFill>
              </a:defRPr>
            </a:pPr>
            <a:r>
              <a:rPr sz="1875" b="1">
                <a:solidFill>
                  <a:srgbClr val="8A4B2B"/>
                </a:solidFill>
              </a:rPr>
              <a:t>The LLM may request a tool. The application decides whether that request is valid, authorized, confirmed, and safe.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FF77B7-3BC9-4631-A6AD-2AC80C77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A4903-B403-4F04-9D15-AEB3239E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381117-60B4-4A35-99D5-85C69822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449897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C08A4C-5FF0-4D29-BB9B-FAD95784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ORCHESTRATION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D6D703-62AE-4CBD-9CD8-50BFFC2CF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agent loop is constrained by policy and state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7D5E9-D2E2-4D8B-9175-5FBC8ACB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19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79868-EA40-4DB4-93D8-1635E6DB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526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explicit conversation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1A87AD-A63D-4DD6-A166-63609C8FA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DEEA74-ABDB-4040-85E4-CF4E4054E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431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maximum tool iterations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4E9744-6F9C-4331-8ABC-35EC50DE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7A518-8839-4C53-B248-93C74BBB6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337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timeouts and structured failures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9B202-D81E-480B-8B9E-0ED82314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90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1E593-04F1-4342-B494-48CE49A4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7242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unknown-tool and invalid-argument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8DA9DE-B909-495C-A564-E4996845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1A490-C53D-45BC-ABF7-F4BFB268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1482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62A"/>
                </a:solidFill>
              </a:defRPr>
            </a:pPr>
            <a:r>
              <a:rPr sz="1650" b="0">
                <a:solidFill>
                  <a:srgbClr val="1F262A"/>
                </a:solidFill>
              </a:rPr>
              <a:t>confirmation workflow for writes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91C97-33C7-4C85-A204-14F17D0E8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3143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CEBE3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Fail-closed examples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PII requests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secret requests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prompt injection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mass operations</a:t>
            </a:r>
          </a:p>
          <a:p xmlns:a="http://schemas.openxmlformats.org/drawingml/2006/main">
            <a:pPr algn="ctr">
              <a:defRPr sz="1800" b="1">
                <a:solidFill>
                  <a:srgbClr val="245C5A"/>
                </a:solidFill>
              </a:defRPr>
            </a:pPr>
            <a:r>
              <a:rPr sz="1800" b="1">
                <a:solidFill>
                  <a:srgbClr val="245C5A"/>
                </a:solidFill>
              </a:rPr>
              <a:t>retrieved policy bypass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374894-8B86-4A93-80F3-A710A58A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D71525-BBE9-461A-87EE-5EC00408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58018-6258-4A3F-AFF3-B1B0A0FD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5388828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F55A74-A1A1-4F0F-B0E9-5B53A9EB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AI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C7EC9C-93F5-486F-9A5F-730BC802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Evaluation turns agent behavior into release criteria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3AC1A0-CEBA-4CD8-BF7B-230459D4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45C5A"/>
                </a:solidFill>
              </a:defRPr>
            </a:pPr>
            <a:r>
              <a:rPr sz="3300" b="1">
                <a:solidFill>
                  <a:srgbClr val="245C5A"/>
                </a:solidFill>
              </a:rPr>
              <a:t>121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4D4310-930B-4578-88A4-613A9817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deterministic scenarios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FE34B-2907-4E5B-82CC-91AFBBCD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4E7E54"/>
                </a:solidFill>
              </a:defRPr>
            </a:pPr>
            <a:r>
              <a:rPr sz="3300" b="1">
                <a:solidFill>
                  <a:srgbClr val="4E7E54"/>
                </a:solidFill>
              </a:rPr>
              <a:t>111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9DB00E-B636-4F5E-BA85-455AD940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pytest tests passed in audit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A638F-4B03-45F8-96B8-C6DE7572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8A4B2B"/>
                </a:solidFill>
              </a:defRPr>
            </a:pPr>
            <a:r>
              <a:rPr sz="3300" b="1">
                <a:solidFill>
                  <a:srgbClr val="8A4B2B"/>
                </a:solidFill>
              </a:rPr>
              <a:t>0.0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B7472C-9EAB-42C4-9ED8-844457BB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hallucinated transaction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F8CC7-F46F-4E1B-8B00-4F65D346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B88746"/>
                </a:solidFill>
              </a:defRPr>
            </a:pPr>
            <a:r>
              <a:rPr sz="3300" b="1">
                <a:solidFill>
                  <a:srgbClr val="B88746"/>
                </a:solidFill>
              </a:rPr>
              <a:t>1.00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7064B-0173-48BD-B6BF-A03427FC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743200"/>
            <a:ext cx="211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67A"/>
                </a:solidFill>
              </a:defRPr>
            </a:pPr>
            <a:r>
              <a:rPr sz="1275" b="0">
                <a:solidFill>
                  <a:srgbClr val="68767A"/>
                </a:solidFill>
              </a:rPr>
              <a:t>gate-critical pass rates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2AFCA-83B4-46A6-AA55-6BD5FE85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597025-7E3C-44F8-BF91-BA79F5FE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3338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Scorers cover tool selection, argument accuracy, retrieval hits, citations, PII leakage, escalation, policy violations, and transaction consistency.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8758EF-0EFD-43B7-8BF0-27513418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482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B62A9-0674-4AF2-B43A-CADF47BC4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81575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62A"/>
                </a:solidFill>
              </a:defRPr>
            </a:pPr>
            <a:r>
              <a:rPr sz="1575" b="0">
                <a:solidFill>
                  <a:srgbClr val="1F262A"/>
                </a:solidFill>
              </a:rPr>
              <a:t>Quality thresholds are stored in version-controlled configuration and enforced by python -m evaluation.gate.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706D97-2B5F-4FCF-A839-1BD32D13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02AB76-6507-43E0-B871-E63FC7A0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2A8A97-45D9-4DB7-8541-7A4A8B0EC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3557071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02FFA-4594-40D7-925C-A986A972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4971E-7DB1-40EE-93ED-028084FA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Observability, reliability, and AWS mapping are explicit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AD7BFD-4E42-4782-916D-5CE004D4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Implemented locally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CAE9C-C770-4B26-BCB1-278806E8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52625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Redacted spans, correlation IDs, component latency, MLflow-local option, reliability tests, Docker/Compose, CI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CA1C85-F9C1-4E69-8172-C26233A6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14675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Documented AWS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5A0E3-2668-4BC7-8A22-BF7FB9ED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14675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Bedrock, S3, Lambda, API Gateway, Aurora PostgreSQL, pgvector, CloudWatch, IAM, Secrets Manager.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F41DC6-49FF-47B5-9E30-BB1FE121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76725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4B2B"/>
          </a:solidFill>
          <a:ln xmlns:a="http://schemas.openxmlformats.org/drawingml/2006/main" w="9525">
            <a:solidFill>
              <a:srgbClr val="8A4B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Not claimed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C909A-813E-4654-B752-BA42977C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76725"/>
            <a:ext cx="7048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7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No live AWS deployment, no real dealership integrations, no real customer data, no production auth/tenant isolation.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844023-AD0A-46F4-BDCE-98164034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AFD9D3-7E4E-4582-A711-2A6D092E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086ED-A4B5-49BF-A770-CE5A4F88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19784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DAC0D-F259-42DD-803D-251208DE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5C5A"/>
                </a:solidFill>
              </a:defRPr>
            </a:pPr>
            <a:r>
              <a:rPr sz="1200" b="1">
                <a:solidFill>
                  <a:srgbClr val="245C5A"/>
                </a:solidFill>
              </a:rPr>
              <a:t>INTERVIEW 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3C795A-BB34-41FC-AABB-4504DC47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620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F262A"/>
                </a:solidFill>
              </a:defRPr>
            </a:pPr>
            <a:r>
              <a:rPr sz="3000" b="1">
                <a:solidFill>
                  <a:srgbClr val="1F262A"/>
                </a:solidFill>
              </a:rPr>
              <a:t>The strongest claim: disciplined AI system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03E2AE-78B4-4FEB-BFF2-8FC7B45C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45C5A"/>
                </a:solidFill>
              </a:defRPr>
            </a:pPr>
            <a:r>
              <a:rPr sz="1950" b="1">
                <a:solidFill>
                  <a:srgbClr val="245C5A"/>
                </a:solidFill>
              </a:rPr>
              <a:t>Five accomplishments to emphasize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CEADB-3C0F-45DC-9816-850F272D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9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4C240-5036-4A95-B206-24E2906F0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typed tool boundary with transaction safety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E8B95-B4B4-44D0-BFAF-66489D35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860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7AD5F-012C-40D9-BBF8-B146B122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leakage-aware predictive ML pipeline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F977EE-75F6-4CE1-8E8A-919FDFB83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E4E81-3DC5-4D5B-81F9-B5083811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9565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citation-ready RAG with retrieval evaluation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30A65-8EF6-4C00-B7C1-D6C181F2E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3857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EC3BB-70EE-47AE-8498-86E696DE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7190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deterministic agent evaluation and release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440E4C-72B9-41CD-960B-DC4EB311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14825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5A"/>
          </a:solidFill>
          <a:ln xmlns:a="http://schemas.openxmlformats.org/drawingml/2006/main" w="0">
            <a:solidFill>
              <a:srgbClr val="245C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E14332-6E4C-4629-8989-27F0F18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48150"/>
            <a:ext cx="52863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62A"/>
                </a:solidFill>
              </a:defRPr>
            </a:pPr>
            <a:r>
              <a:rPr sz="1500" b="0">
                <a:solidFill>
                  <a:srgbClr val="1F262A"/>
                </a:solidFill>
              </a:rPr>
              <a:t>clean module boundaries and honest AWS mapping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F1D56-8167-4697-8446-30A8F1A8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47900"/>
            <a:ext cx="314325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245C5A"/>
          </a:solidFill>
          <a:ln xmlns:a="http://schemas.openxmlformats.org/drawingml/2006/main" w="9525">
            <a:solidFill>
              <a:srgbClr val="245C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Position carefully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Production-oriented reference implementation, not deployed dealership software.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88CD2-8D68-4243-8EC8-D418FD09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7D0"/>
          </a:solidFill>
          <a:ln xmlns:a="http://schemas.openxmlformats.org/drawingml/2006/main" w="0">
            <a:solidFill>
              <a:srgbClr val="D8D7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53F7F-4553-4E97-BAC1-060DF6AC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DealerAI Ops interview explainer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946054-89E9-4C5A-9F8F-E458D04E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67A"/>
                </a:solidFill>
              </a:defRPr>
            </a:pPr>
            <a:r>
              <a:rPr sz="900" b="0">
                <a:solidFill>
                  <a:srgbClr val="68767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65001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2026-08-11T18:15:54.8840000Z</dcterms:created>
  <dcterms:modified xsi:type="dcterms:W3CDTF">2026-08-11T18:15:54.8840000Z</dcterms:modified>
</coreProperties>
</file>